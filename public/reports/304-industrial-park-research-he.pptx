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mini/.hermes/hermes-agent/tmp/304_assets/hero.jpg">    </p:cNvPr>
          <p:cNvPicPr>
            <a:picLocks noChangeAspect="1"/>
          </p:cNvPicPr>
          <p:nvPr/>
        </p:nvPicPr>
        <p:blipFill>
          <a:blip r:embed="rId1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233">
              <a:alpha val="85000"/>
            </a:srgbClr>
          </a:solidFill>
          <a:ln w="12700">
            <a:solidFill>
              <a:srgbClr val="0F22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097280"/>
            <a:ext cx="8046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מחקר מהיר: 304 Industrial Park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48640" y="1874520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CD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פרופיל חברה, נכסים, תשתיות, אנרגיה ירוקה והזדמנות עסקית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0C8B7F"/>
          </a:solidFill>
          <a:ln w="12700">
            <a:solidFill>
              <a:srgbClr val="0C8B7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542032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Thailand industrial ecosystem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788920" y="246888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3FA66B"/>
          </a:solidFill>
          <a:ln w="12700">
            <a:solidFill>
              <a:srgbClr val="3FA6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34640" y="254203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Prachinburi + Chachoengsao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49240" y="246888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9496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utilities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" y="4681728"/>
            <a:ext cx="8046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9E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מקורות: אתר 304 Industrial Park, עמודי Utilities / Parks / Sustainability / Download. הופק ע״י הרמס.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תקציר מנהלים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השורה התחתונה: זה לא רק פארק תעשייה — זה אקו־סיסטם עם אנרגיה, מים, קיטור ולוגיסטיקה ירוקה.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44368" y="1143000"/>
            <a:ext cx="73152" cy="1234440"/>
          </a:xfrm>
          <a:prstGeom prst="rect">
            <a:avLst/>
          </a:prstGeom>
          <a:solidFill>
            <a:srgbClr val="0C8B7F"/>
          </a:solidFill>
          <a:ln w="12700">
            <a:solidFill>
              <a:srgbClr val="0C8B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80160"/>
            <a:ext cx="21214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618488"/>
            <a:ext cx="2121408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מפתח פארקי תעשייה ותיק בתאילנד, עם יותר מ־30 שנות פעילות ו־170+ חברות לקוח.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3337560" y="114300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87568" y="1143000"/>
            <a:ext cx="73152" cy="1234440"/>
          </a:xfrm>
          <a:prstGeom prst="rect">
            <a:avLst/>
          </a:prstGeom>
          <a:solidFill>
            <a:srgbClr val="3FA66B"/>
          </a:solidFill>
          <a:ln w="12700">
            <a:solidFill>
              <a:srgbClr val="3FA6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280160"/>
            <a:ext cx="21214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הנכס המרכזי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02152" y="1618488"/>
            <a:ext cx="2121408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פארקים: Prachinburi הגדול והוותיק, ו־Chachoengsao בתוך EEC עם Free Zone.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30768" y="1143000"/>
            <a:ext cx="73152" cy="123444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1280160"/>
            <a:ext cx="21214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ה־Moat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45352" y="1618488"/>
            <a:ext cx="2121408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קיבולת חשמל 893MW, מאגר מים פרטי גדול, קיטור תעשייתי, ביומסה וסולאר צף.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94360" y="27432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44368" y="2743200"/>
            <a:ext cx="73152" cy="1143000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880360"/>
            <a:ext cx="21214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רלוונטיות אלינו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" y="3218688"/>
            <a:ext cx="2121408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פוטנציאל לשת״פ B2B מול דיירים עתירי חשמל, אך הם כבר מחזיקים יכולות אנרגיה פנימיות.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3337560" y="27432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87568" y="2743200"/>
            <a:ext cx="73152" cy="1143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2152" y="2880360"/>
            <a:ext cx="21214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סיכון/פער מידע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02152" y="3218688"/>
            <a:ext cx="2121408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רוב המספרים הם self-reported מהאתר; צריך לאמת מחירי חשמל, ownership ו־tenant decision path.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080760" y="27432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30768" y="2743200"/>
            <a:ext cx="73152" cy="1143000"/>
          </a:xfrm>
          <a:prstGeom prst="rect">
            <a:avLst/>
          </a:prstGeom>
          <a:solidFill>
            <a:srgbClr val="0C8B7F"/>
          </a:solidFill>
          <a:ln w="12700">
            <a:solidFill>
              <a:srgbClr val="0C8B7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5352" y="2880360"/>
            <a:ext cx="21214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המלצה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45352" y="3218688"/>
            <a:ext cx="2121408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לפנות כשותף אנרגיה/נתונים לדיירים או לפתרונות משלימים — לא כ״עוד מתקין סולארי״.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02920" y="4828032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304industrialpark.com/en/ + key pages scraped 2026-06-02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פרופיל חברה ותשתית עסקית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304 מציגה את עצמה כמפתח industrial cities — שילוב נדל״ן, תשתיות ושירותי משקיע.</a:t>
            </a:r>
            <a:endParaRPr lang="en-US" sz="1000" dirty="0"/>
          </a:p>
        </p:txBody>
      </p:sp>
      <p:pic>
        <p:nvPicPr>
          <p:cNvPr id="4" name="Image 0" descr="/Users/macmini/.hermes/hermes-agent/tmp/304_assets/pow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43000"/>
            <a:ext cx="2834640" cy="1965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11880" y="1143000"/>
            <a:ext cx="1417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C8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3611880" y="1645920"/>
            <a:ext cx="1417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שנות ניסיון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74920" y="1143000"/>
            <a:ext cx="1417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FA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170+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074920" y="1645920"/>
            <a:ext cx="1417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חברות לקוח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537960" y="1143000"/>
            <a:ext cx="1600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3,200 ha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537960" y="1645920"/>
            <a:ext cx="1600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שטח כולל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11880" y="2468880"/>
            <a:ext cx="1417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C8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 ha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3611880" y="2971800"/>
            <a:ext cx="1417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קרקע למכירה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74920" y="2468880"/>
            <a:ext cx="1417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FA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27,750 m²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5074920" y="2971800"/>
            <a:ext cx="1417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מפעלים מוכנים להשכרה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537960" y="2468880"/>
            <a:ext cx="1600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50k+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6537960" y="2971800"/>
            <a:ext cx="1600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מועסקים בפארק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85800" y="3429000"/>
            <a:ext cx="77724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/>
            <a:r>
              <a:rPr lang="en-US" sz="106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החברה הוקמה ב־1992; פיתוח Prachinburi החל ב־1995.</a:t>
            </a:r>
            <a:endParaRPr lang="en-US" sz="1060" dirty="0"/>
          </a:p>
          <a:p>
            <a:pPr algn="r"/>
            <a:r>
              <a:rPr lang="en-US" sz="106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באתר: Mr. Kittiphan Chitpentham.</a:t>
            </a:r>
            <a:endParaRPr lang="en-US" sz="1060" dirty="0"/>
          </a:p>
          <a:p>
            <a:pPr algn="r"/>
            <a:r>
              <a:rPr lang="en-US" sz="106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ליבת העסק: Industrial Parks, Ready-Built Factories, Industrial Services.</a:t>
            </a:r>
            <a:endParaRPr lang="en-US" sz="1060" dirty="0"/>
          </a:p>
          <a:p>
            <a:pPr algn="r"/>
            <a:r>
              <a:rPr lang="en-US" sz="106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המסר השיווקי: “future-ready ecosystem” עם green energy וחיבוריות גלובלית.</a:t>
            </a:r>
            <a:endParaRPr lang="en-US" sz="1060" dirty="0"/>
          </a:p>
        </p:txBody>
      </p:sp>
      <p:sp>
        <p:nvSpPr>
          <p:cNvPr id="18" name="Text 15"/>
          <p:cNvSpPr/>
          <p:nvPr/>
        </p:nvSpPr>
        <p:spPr>
          <a:xfrm>
            <a:off x="502920" y="4828032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About Us + homepage metrics, 304 Industrial Park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 נכסים: Prachinburi מול Chachoengsao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אתרים עם תפקידים שונים — אחד גדול ועמוק תשתיתית, השני ממוקד EEC/Free Zone.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3794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15968" y="1143000"/>
            <a:ext cx="73152" cy="3063240"/>
          </a:xfrm>
          <a:prstGeom prst="rect">
            <a:avLst/>
          </a:prstGeom>
          <a:solidFill>
            <a:srgbClr val="0C8B7F"/>
          </a:solidFill>
          <a:ln w="12700">
            <a:solidFill>
              <a:srgbClr val="0C8B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80160"/>
            <a:ext cx="34930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Prachinburi — הבסיס הגדול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618488"/>
            <a:ext cx="3493008" cy="2496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שטח כולל: 3,040 ha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קרקע למכירה: 456 ha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חשמל: 835.6MW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מים: 320,000 מ״ק/יום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מאגר: 40 מיליון מ״ק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ביומסה: 340MW + סולאר צף 157MW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קיטור ירוק: 2,661.8 טון/שעה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794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76488" y="1143000"/>
            <a:ext cx="73152" cy="3063240"/>
          </a:xfrm>
          <a:prstGeom prst="rect">
            <a:avLst/>
          </a:prstGeom>
          <a:solidFill>
            <a:srgbClr val="3FA66B"/>
          </a:solidFill>
          <a:ln w="12700">
            <a:solidFill>
              <a:srgbClr val="3FA6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280160"/>
            <a:ext cx="34930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Chachoengsao — EEC + Free Zone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618488"/>
            <a:ext cx="3493008" cy="2496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שטח כולל: 160 ha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קרקע למכירה: 56 ha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חשמל: 47.5MW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מים: 24,000 מ״ק/יום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מאגר: 18 מיליון מ״ק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Steam: 230 טון/שעה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מיועד לעד 9 תעשיות יעד ב־EEC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/industrial-park/prachinburi/ and /industrial-park/chachoengsao/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יתרון תשתיתי: חשמל, מים וקיטור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הפארק מוכר סביב אמינות utility ומתן פתרונות לתעשיות עתירות צריכה.</a:t>
            </a:r>
            <a:endParaRPr lang="en-US" sz="1000" dirty="0"/>
          </a:p>
        </p:txBody>
      </p:sp>
      <p:pic>
        <p:nvPicPr>
          <p:cNvPr id="4" name="Image 0" descr="/Users/macmini/.hermes/hermes-agent/tmp/304_assets/sola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43000"/>
            <a:ext cx="29260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03320" y="1051560"/>
            <a:ext cx="1508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C8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893MW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3703320" y="1554480"/>
            <a:ext cx="1508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קיבולת חשמל כוללת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349240" y="1051560"/>
            <a:ext cx="1508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FA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555MW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349240" y="1554480"/>
            <a:ext cx="1508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Solar-Biomass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995160" y="1051560"/>
            <a:ext cx="1417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344k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995160" y="1554480"/>
            <a:ext cx="1417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מ״ק מים ליום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703320" y="242316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70448" y="2423160"/>
            <a:ext cx="73152" cy="1143000"/>
          </a:xfrm>
          <a:prstGeom prst="rect">
            <a:avLst/>
          </a:prstGeom>
          <a:solidFill>
            <a:srgbClr val="3FA66B"/>
          </a:solidFill>
          <a:ln w="12700">
            <a:solidFill>
              <a:srgbClr val="3FA6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67912" y="2560320"/>
            <a:ext cx="19385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ביומסה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867912" y="2898648"/>
            <a:ext cx="1938528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398MW; לפי האתר עד 97% הפחתת CO₂ ו־I-REC.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6217920" y="242316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85048" y="2423160"/>
            <a:ext cx="73152" cy="11430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82512" y="2560320"/>
            <a:ext cx="19385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סולאר צף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82512" y="2898648"/>
            <a:ext cx="1938528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157MW על פני 192+ ha מאגרי מים; נטען עד 100% הפחתה.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548640" y="347472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401568" y="3474720"/>
            <a:ext cx="73152" cy="777240"/>
          </a:xfrm>
          <a:prstGeom prst="rect">
            <a:avLst/>
          </a:prstGeom>
          <a:solidFill>
            <a:srgbClr val="0C8B7F"/>
          </a:solidFill>
          <a:ln w="12700">
            <a:solidFill>
              <a:srgbClr val="0C8B7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" y="3611880"/>
            <a:ext cx="26243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מים + קיטור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13232" y="3675888"/>
            <a:ext cx="262432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מאגר תעשייתי פרטי 40M מ״ק; קיטור תעשייתי 2,661.8 טון/שעה.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3703320" y="3794760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0F2233"/>
          </a:solidFill>
          <a:ln w="12700">
            <a:solidFill>
              <a:srgbClr val="0F22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67912" y="3922776"/>
            <a:ext cx="442569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משמעות עסקית: מפעלים שצריכים ודאות אספקה, מים, קיטור ויעדי פחמן.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502920" y="4828032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/utilities/ — self-reported operational capacities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מיקום וחיבוריות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הצעת הערך: חיבור לנמלים, Bangkok, שדות תעופה ומסדרונות כלכליים באזור.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96012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143000"/>
            <a:ext cx="3429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צירי חיבור מרכזיים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25880" y="1947672"/>
            <a:ext cx="1508760" cy="137160"/>
          </a:xfrm>
          <a:prstGeom prst="line">
            <a:avLst/>
          </a:prstGeom>
          <a:noFill/>
          <a:ln w="25400">
            <a:solidFill>
              <a:srgbClr val="D8E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2221992"/>
            <a:ext cx="576072" cy="502920"/>
          </a:xfrm>
          <a:prstGeom prst="line">
            <a:avLst/>
          </a:prstGeom>
          <a:noFill/>
          <a:ln w="25400">
            <a:solidFill>
              <a:srgbClr val="D8E2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71800" y="2221992"/>
            <a:ext cx="320040" cy="1234440"/>
          </a:xfrm>
          <a:prstGeom prst="line">
            <a:avLst/>
          </a:prstGeom>
          <a:noFill/>
          <a:ln w="25400">
            <a:solidFill>
              <a:srgbClr val="D8E2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828800"/>
            <a:ext cx="402336" cy="40233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286000"/>
            <a:ext cx="1188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Bangkok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65960" y="2423160"/>
            <a:ext cx="402336" cy="402336"/>
          </a:xfrm>
          <a:prstGeom prst="ellipse">
            <a:avLst/>
          </a:prstGeom>
          <a:solidFill>
            <a:srgbClr val="0C8B7F"/>
          </a:solidFill>
          <a:ln w="12700">
            <a:solidFill>
              <a:srgbClr val="0C8B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81912" y="2880360"/>
            <a:ext cx="1188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Suvarnabhumi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80360" y="2057400"/>
            <a:ext cx="402336" cy="402336"/>
          </a:xfrm>
          <a:prstGeom prst="ellipse">
            <a:avLst/>
          </a:prstGeom>
          <a:solidFill>
            <a:srgbClr val="3FA66B"/>
          </a:solidFill>
          <a:ln w="12700">
            <a:solidFill>
              <a:srgbClr val="3FA6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2514600"/>
            <a:ext cx="1188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304 IP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0" y="2788920"/>
            <a:ext cx="402336" cy="402336"/>
          </a:xfrm>
          <a:prstGeom prst="ellipse">
            <a:avLst/>
          </a:prstGeom>
          <a:solidFill>
            <a:srgbClr val="0F2233"/>
          </a:solidFill>
          <a:ln w="12700">
            <a:solidFill>
              <a:srgbClr val="0F22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3246120"/>
            <a:ext cx="1188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Laem Chabang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3566160"/>
            <a:ext cx="402336" cy="40233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53512" y="4023360"/>
            <a:ext cx="1188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Ta Phut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00600" y="9601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39328" y="960120"/>
            <a:ext cx="73152" cy="2331720"/>
          </a:xfrm>
          <a:prstGeom prst="rect">
            <a:avLst/>
          </a:prstGeom>
          <a:solidFill>
            <a:srgbClr val="0C8B7F"/>
          </a:solidFill>
          <a:ln w="12700">
            <a:solidFill>
              <a:srgbClr val="0C8B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1097280"/>
            <a:ext cx="33101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מרחקים מרכזיים — Prachinburi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65192" y="1435608"/>
            <a:ext cx="3310128" cy="1764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 ק״מ ICD Lat Krabang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ק״מ Suvarnabhumi Airport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 ק״מ Laem Chabang Deep Seaport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ק״מ Bangkok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ק״מ Map Ta Phut Port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800600" y="352044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39328" y="3520440"/>
            <a:ext cx="73152" cy="868680"/>
          </a:xfrm>
          <a:prstGeom prst="rect">
            <a:avLst/>
          </a:prstGeom>
          <a:solidFill>
            <a:srgbClr val="3FA66B"/>
          </a:solidFill>
          <a:ln w="12700">
            <a:solidFill>
              <a:srgbClr val="3FA6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3657600"/>
            <a:ext cx="33101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קרקע ועמידות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65192" y="3995928"/>
            <a:ext cx="3310128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14–21 מטר מעל פני הים; האתר טוען להגנה מהצפות ושכבת קרקע שמפחיתה עלויות בנייה.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502920" y="4828032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/about-us/why-us/ and Prachinburi park page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דיירים ותעשיות יעד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הפארק ממוקם על תעשיות בעלות צריכת חשמל/מים גבוהה ושרשרת אספקה אזורית.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0C8B7F"/>
          </a:solidFill>
          <a:ln w="12700">
            <a:solidFill>
              <a:srgbClr val="0C8B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16152"/>
            <a:ext cx="1554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697480" y="114300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3FA66B"/>
          </a:solidFill>
          <a:ln w="12700">
            <a:solidFill>
              <a:srgbClr val="3FA6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16152"/>
            <a:ext cx="1554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216152"/>
            <a:ext cx="1554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720840" y="114300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0F2233"/>
          </a:solidFill>
          <a:ln w="12700">
            <a:solidFill>
              <a:srgbClr val="0F22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216152"/>
            <a:ext cx="1554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Pulp &amp; Fiber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" y="196596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0C8B7F"/>
          </a:solidFill>
          <a:ln w="12700">
            <a:solidFill>
              <a:srgbClr val="0C8B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039112"/>
            <a:ext cx="1554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&amp; Chemical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97480" y="196596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3FA66B"/>
          </a:solidFill>
          <a:ln w="12700">
            <a:solidFill>
              <a:srgbClr val="3FA6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039112"/>
            <a:ext cx="1554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Food/Additive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196596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039112"/>
            <a:ext cx="1554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</a:t>
            </a:r>
            <a:endParaRPr lang="en-US" sz="850" dirty="0"/>
          </a:p>
        </p:txBody>
      </p:sp>
      <p:pic>
        <p:nvPicPr>
          <p:cNvPr id="18" name="Image 0" descr="/Users/macmini/.hermes/hermes-agent/tmp/304_assets/fac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2468880"/>
            <a:ext cx="3566160" cy="169164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85800" y="2834640"/>
            <a:ext cx="3886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498848" y="2834640"/>
            <a:ext cx="73152" cy="1325880"/>
          </a:xfrm>
          <a:prstGeom prst="rect">
            <a:avLst/>
          </a:prstGeom>
          <a:solidFill>
            <a:srgbClr val="0C8B7F"/>
          </a:solidFill>
          <a:ln w="12700">
            <a:solidFill>
              <a:srgbClr val="0C8B7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0392" y="2971800"/>
            <a:ext cx="35844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דוגמאות מהאתר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50392" y="3310128"/>
            <a:ext cx="3584448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Musashi Auto Parts, Yano Electronics, Yajima Engineering מוזכרים כמשקיעים מוקדמים; Dinkle Group ו־Taihua Electronics מופיעים בעדויות/חדשות.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4892040" y="11430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385048" y="1143000"/>
            <a:ext cx="73152" cy="1051560"/>
          </a:xfrm>
          <a:prstGeom prst="rect">
            <a:avLst/>
          </a:prstGeom>
          <a:solidFill>
            <a:srgbClr val="3FA66B"/>
          </a:solidFill>
          <a:ln w="12700">
            <a:solidFill>
              <a:srgbClr val="3FA6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1280160"/>
            <a:ext cx="32644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אומר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056632" y="1618488"/>
            <a:ext cx="3264408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הפוקוס ב־PCB, אלקטרוניקה, רכב ו־S-Curve מתאים ללקוחות עם עומסי חשמל גבוהים ולחץ ESG גובר.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502920" y="4828032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/about-us/our-customer/, /about-us/, newsroom testimonials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/ ESG — חוזקות ופערי אימות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החברה משווקת ESG חזק; עדיין צריך לאמת עצמאית לפני החלטה מסחרית.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2468880" cy="2560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90088" y="1051560"/>
            <a:ext cx="73152" cy="2560320"/>
          </a:xfrm>
          <a:prstGeom prst="rect">
            <a:avLst/>
          </a:prstGeom>
          <a:solidFill>
            <a:srgbClr val="3FA66B"/>
          </a:solidFill>
          <a:ln w="12700">
            <a:solidFill>
              <a:srgbClr val="3FA6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188720"/>
            <a:ext cx="21671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חוזקות מוצהרות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27048"/>
            <a:ext cx="2167128" cy="1993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14001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Industry Level 3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Monitoring כל 6 חודשים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Discharge לשפכים מטופלים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AQMS / CCTV / drones לבקרה סביבתית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468880" cy="2560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33288" y="1051560"/>
            <a:ext cx="73152" cy="2560320"/>
          </a:xfrm>
          <a:prstGeom prst="rect">
            <a:avLst/>
          </a:prstGeom>
          <a:solidFill>
            <a:srgbClr val="0C8B7F"/>
          </a:solidFill>
          <a:ln w="12700">
            <a:solidFill>
              <a:srgbClr val="0C8B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188720"/>
            <a:ext cx="21671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טענות פחמן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02152" y="1527048"/>
            <a:ext cx="2167128" cy="1993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 100% הפחתה בסולאר צף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 97% בביומסה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 98% במים תעשייתיים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 99% בלוגיסטיקה חשמלית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2468880" cy="2560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76488" y="1051560"/>
            <a:ext cx="73152" cy="2560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1188720"/>
            <a:ext cx="21671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פערי due diligence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45352" y="1527048"/>
            <a:ext cx="2167128" cy="1993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לדרוש דוחות I-REC בפועל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לבדוק PPA/תעריף ומקור אנרגיה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לבדוק ownership של תחנות הכוח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לבדוק complaints/permits מול רשויות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1097280" y="3886200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0F2233"/>
          </a:solidFill>
          <a:ln w="12700">
            <a:solidFill>
              <a:srgbClr val="0F22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4014216"/>
            <a:ext cx="66202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פרשנות: הסיפור הירוק שלהם הוא יתרון תחרותי — אבל גם חוסם מכירה פשוטה של Solar-as-a-commodity.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502920" y="4828032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/sustainability/ + /utilities/ + /services/green-logistic/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רלוונטיות עסקית לקניאל / Bustan Energy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הזדמנות קיימת, אבל צריך להיכנס דרך כאב נכון — לא להציג להם “עוד סולאר”.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35808" y="1051560"/>
            <a:ext cx="73152" cy="2926080"/>
          </a:xfrm>
          <a:prstGeom prst="rect">
            <a:avLst/>
          </a:prstGeom>
          <a:solidFill>
            <a:srgbClr val="0C8B7F"/>
          </a:solidFill>
          <a:ln w="12700">
            <a:solidFill>
              <a:srgbClr val="0C8B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188720"/>
            <a:ext cx="22128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הזדמנות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27048"/>
            <a:ext cx="2212848" cy="2359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גישה לעשרות/מאות מפעלים עתירי צריכת חשמל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חברות זרות עם ESG reporting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צורך במודלי חיסכון, ניטור, I-REC, peak shaving ו־storage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אפשרות לשת״פ סביב נתוני צריכה ודיירים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79008" y="1051560"/>
            <a:ext cx="73152" cy="2926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188720"/>
            <a:ext cx="22128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02152" y="1527048"/>
            <a:ext cx="2212848" cy="2359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304 מחזיקה/משווקת יכולות renewable קיימות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ייתכן שמערך ה־utility שלהם מונע גישה ישירה לדיירים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ברור מי בעל הלקוח בחשמל: park / utility / tenant / PPA entity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22208" y="1051560"/>
            <a:ext cx="73152" cy="2926080"/>
          </a:xfrm>
          <a:prstGeom prst="rect">
            <a:avLst/>
          </a:prstGeom>
          <a:solidFill>
            <a:srgbClr val="3FA66B"/>
          </a:solidFill>
          <a:ln w="12700">
            <a:solidFill>
              <a:srgbClr val="3FA6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1188720"/>
            <a:ext cx="22128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זווית כניסה מומלצת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45352" y="1527048"/>
            <a:ext cx="2212848" cy="2359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“Tenant energy intelligence”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חשבונות ודפוסי עומס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פתרונות משלימים: storage, EMS, rooftop where allowed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פיילוט עם 2–3 דיירים ולא מכירה כללית לפארק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2377440" y="4315968"/>
            <a:ext cx="4389120" cy="320040"/>
          </a:xfrm>
          <a:prstGeom prst="roundRect">
            <a:avLst>
              <a:gd name="adj" fmla="val 17143"/>
            </a:avLst>
          </a:prstGeom>
          <a:solidFill>
            <a:srgbClr val="0F2233"/>
          </a:solidFill>
          <a:ln w="12700">
            <a:solidFill>
              <a:srgbClr val="0F22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4389120"/>
            <a:ext cx="4297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approach: partner / intelligence / pilot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4828032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analysis based on public material; needs validation in meeting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לפגישה והצעדים הבאים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להבין ownership, economics וגישה לדיירים לפני השקעת זמן במכירה.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379476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15968" y="1051560"/>
            <a:ext cx="73152" cy="2697480"/>
          </a:xfrm>
          <a:prstGeom prst="rect">
            <a:avLst/>
          </a:prstGeom>
          <a:solidFill>
            <a:srgbClr val="0C8B7F"/>
          </a:solidFill>
          <a:ln w="12700">
            <a:solidFill>
              <a:srgbClr val="0C8B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188720"/>
            <a:ext cx="34930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חובה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27048"/>
            <a:ext cx="3493008" cy="2130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מי מוכר חשמל לדיירים ומה מבנה התעריף?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האם דיירים יכולים להתקין rooftop / storage עצמאית?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האם קיימת רשימת דיירים עם עומסי חשמל/מים?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מי מחזיק I-REC ומה מתומחר לדייר?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האם יש יעדי carbon reporting ללקוחות זרים?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האם יש פתיחות לפיילוט אנרגיה/נתונים?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79476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8890">
            <a:solidFill>
              <a:srgbClr val="E7EC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76488" y="1051560"/>
            <a:ext cx="73152" cy="2697480"/>
          </a:xfrm>
          <a:prstGeom prst="rect">
            <a:avLst/>
          </a:prstGeom>
          <a:solidFill>
            <a:srgbClr val="3FA66B"/>
          </a:solidFill>
          <a:ln w="12700">
            <a:solidFill>
              <a:srgbClr val="3FA6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188720"/>
            <a:ext cx="34930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לבקש מהם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527048"/>
            <a:ext cx="3493008" cy="2130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Customer/tenant industry breakdown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tariff sheet או sample bill אנונימי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PPA/renewable supply model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map וגגות זמינים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פרטי contact של business development / utilities</a:t>
            </a: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לשיחה עם 2 דיירים רלוונטיים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1097280" y="3977640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0F2233"/>
          </a:solidFill>
          <a:ln w="12700">
            <a:solidFill>
              <a:srgbClr val="0F22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4105656"/>
            <a:ext cx="66202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הצעד הבא אם תרצה: מייל פנייה באנגלית + one-pager Value Proposition ל־BD שלהם.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502920" y="4828032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sources: 304industrialpark.com/en/, /utilities/, /parks/, /sustainability/, /download/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Hermes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מחקר: 304 Industrial Park</dc:title>
  <dc:subject>Research brief on 304 Industrial Park</dc:subject>
  <dc:creator>Hermes for Kaniel</dc:creator>
  <cp:lastModifiedBy>Hermes for Kaniel</cp:lastModifiedBy>
  <cp:revision>1</cp:revision>
  <dcterms:created xsi:type="dcterms:W3CDTF">2026-06-02T00:48:48Z</dcterms:created>
  <dcterms:modified xsi:type="dcterms:W3CDTF">2026-06-02T00:48:48Z</dcterms:modified>
</cp:coreProperties>
</file>